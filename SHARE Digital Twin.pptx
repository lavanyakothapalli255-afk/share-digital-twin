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Open Sauce" panose="020B0604020202020204" charset="0"/>
      <p:regular r:id="rId13"/>
    </p:embeddedFont>
    <p:embeddedFont>
      <p:font typeface="Open Sauce Bold" panose="020B0604020202020204" charset="0"/>
      <p:regular r:id="rId14"/>
    </p:embeddedFont>
    <p:embeddedFont>
      <p:font typeface="Open Sauce Bold Italics" panose="020B0604020202020204" charset="0"/>
      <p:regular r:id="rId15"/>
    </p:embeddedFont>
    <p:embeddedFont>
      <p:font typeface="Open Sauce Medium" panose="020B0604020202020204" charset="0"/>
      <p:regular r:id="rId16"/>
    </p:embeddedFont>
    <p:embeddedFont>
      <p:font typeface="Open Sauce Semi-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7B4A5-B3B7-46E7-8344-19E2DA07FE53}" type="datetimeFigureOut">
              <a:rPr lang="en-IN" smtClean="0"/>
              <a:t>19-10-2026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3C22C4-3C73-40F3-92F7-667C2A98AA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025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3C22C4-3C73-40F3-92F7-667C2A98AA6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47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18" Type="http://schemas.openxmlformats.org/officeDocument/2006/relationships/image" Target="../media/image2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17" Type="http://schemas.openxmlformats.org/officeDocument/2006/relationships/image" Target="../media/image25.png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19" Type="http://schemas.openxmlformats.org/officeDocument/2006/relationships/image" Target="../media/image27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51093" y="576447"/>
            <a:ext cx="9184498" cy="1193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5"/>
              </a:lnSpc>
            </a:pPr>
            <a:r>
              <a:rPr lang="en-US" sz="7716" b="1" spc="-154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SHARE Digital Twin: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6680" y="2050342"/>
            <a:ext cx="10483395" cy="24300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24"/>
              </a:lnSpc>
            </a:pPr>
            <a:r>
              <a:rPr lang="en-US" sz="5139" b="1" spc="-102" dirty="0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An Exploratory Cardiovascular Digital Twin Using ECG-Derived Heart Rate Variability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85506" y="4664936"/>
            <a:ext cx="7733274" cy="447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sz="2838" b="1" spc="-56" dirty="0">
                <a:solidFill>
                  <a:srgbClr val="E8796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Happiest Health Digital Twin Challenge 2026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5356674"/>
            <a:ext cx="229694" cy="644987"/>
          </a:xfrm>
          <a:custGeom>
            <a:avLst/>
            <a:gdLst/>
            <a:ahLst/>
            <a:cxnLst/>
            <a:rect l="l" t="t" r="r" b="b"/>
            <a:pathLst>
              <a:path w="229694" h="644987">
                <a:moveTo>
                  <a:pt x="0" y="0"/>
                </a:moveTo>
                <a:lnTo>
                  <a:pt x="229694" y="0"/>
                </a:lnTo>
                <a:lnTo>
                  <a:pt x="229694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968874" y="5342175"/>
            <a:ext cx="4911047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48">
                <a:solidFill>
                  <a:srgbClr val="57B7BE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BVCITS</a:t>
            </a:r>
            <a:r>
              <a:rPr lang="en-US" sz="2399" b="1" spc="-48">
                <a:solidFill>
                  <a:srgbClr val="FFFFFF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, Batlapalem, Amalapuram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5990729"/>
            <a:ext cx="229694" cy="2372241"/>
          </a:xfrm>
          <a:custGeom>
            <a:avLst/>
            <a:gdLst/>
            <a:ahLst/>
            <a:cxnLst/>
            <a:rect l="l" t="t" r="r" b="b"/>
            <a:pathLst>
              <a:path w="229694" h="2372241">
                <a:moveTo>
                  <a:pt x="0" y="0"/>
                </a:moveTo>
                <a:lnTo>
                  <a:pt x="229694" y="0"/>
                </a:lnTo>
                <a:lnTo>
                  <a:pt x="22969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17984" y="6527861"/>
            <a:ext cx="7125891" cy="1682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Vijaya Durga Lavanya Kothapalli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Leela Lakshmi Prasanna Karatam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Durga Swetha Sri Kamana</a:t>
            </a:r>
          </a:p>
          <a:p>
            <a:pPr algn="l">
              <a:lnSpc>
                <a:spcPts val="3482"/>
              </a:lnSpc>
            </a:pPr>
            <a:r>
              <a:rPr lang="en-US" sz="2321" b="1" spc="-46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Suji Muramalla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8570678"/>
            <a:ext cx="229694" cy="1289974"/>
          </a:xfrm>
          <a:custGeom>
            <a:avLst/>
            <a:gdLst/>
            <a:ahLst/>
            <a:cxnLst/>
            <a:rect l="l" t="t" r="r" b="b"/>
            <a:pathLst>
              <a:path w="229694" h="128997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02912" y="8489890"/>
            <a:ext cx="1507223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48">
                <a:solidFill>
                  <a:srgbClr val="57B7BE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Our Vision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3895" y="8941074"/>
            <a:ext cx="6408897" cy="83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7"/>
              </a:lnSpc>
            </a:pPr>
            <a:r>
              <a:rPr lang="en-US" sz="2271" b="1" spc="-45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Representing physiological changes over time</a:t>
            </a:r>
          </a:p>
          <a:p>
            <a:pPr algn="l">
              <a:lnSpc>
                <a:spcPts val="3407"/>
              </a:lnSpc>
            </a:pPr>
            <a:r>
              <a:rPr lang="en-US" sz="2271" b="1" spc="-45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to enable </a:t>
            </a:r>
            <a:r>
              <a:rPr lang="en-US" sz="2271" b="1" spc="-45">
                <a:solidFill>
                  <a:srgbClr val="E87960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 cardiovascular insights</a:t>
            </a:r>
          </a:p>
        </p:txBody>
      </p:sp>
      <p:sp>
        <p:nvSpPr>
          <p:cNvPr id="13" name="Freeform 13"/>
          <p:cNvSpPr/>
          <p:nvPr/>
        </p:nvSpPr>
        <p:spPr>
          <a:xfrm>
            <a:off x="6311110" y="4493047"/>
            <a:ext cx="5447024" cy="2153601"/>
          </a:xfrm>
          <a:custGeom>
            <a:avLst/>
            <a:gdLst/>
            <a:ahLst/>
            <a:cxnLst/>
            <a:rect l="l" t="t" r="r" b="b"/>
            <a:pathLst>
              <a:path w="5447024" h="2153601">
                <a:moveTo>
                  <a:pt x="0" y="0"/>
                </a:moveTo>
                <a:lnTo>
                  <a:pt x="5447024" y="0"/>
                </a:lnTo>
                <a:lnTo>
                  <a:pt x="544702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320622" y="1705390"/>
            <a:ext cx="4145426" cy="6438940"/>
          </a:xfrm>
          <a:custGeom>
            <a:avLst/>
            <a:gdLst/>
            <a:ahLst/>
            <a:cxnLst/>
            <a:rect l="l" t="t" r="r" b="b"/>
            <a:pathLst>
              <a:path w="4145426" h="6438940">
                <a:moveTo>
                  <a:pt x="0" y="0"/>
                </a:moveTo>
                <a:lnTo>
                  <a:pt x="4145426" y="0"/>
                </a:lnTo>
                <a:lnTo>
                  <a:pt x="4145426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236354" y="4493047"/>
            <a:ext cx="3051646" cy="2153601"/>
          </a:xfrm>
          <a:custGeom>
            <a:avLst/>
            <a:gdLst/>
            <a:ahLst/>
            <a:cxnLst/>
            <a:rect l="l" t="t" r="r" b="b"/>
            <a:pathLst>
              <a:path w="3051646" h="2153601">
                <a:moveTo>
                  <a:pt x="0" y="0"/>
                </a:moveTo>
                <a:lnTo>
                  <a:pt x="3051646" y="0"/>
                </a:lnTo>
                <a:lnTo>
                  <a:pt x="305164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09723" y="6065095"/>
            <a:ext cx="826091" cy="421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1" spc="-48">
                <a:solidFill>
                  <a:srgbClr val="57B7BE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050220" y="0"/>
            <a:ext cx="4582938" cy="10287000"/>
          </a:xfrm>
          <a:custGeom>
            <a:avLst/>
            <a:gdLst/>
            <a:ahLst/>
            <a:cxnLst/>
            <a:rect l="l" t="t" r="r" b="b"/>
            <a:pathLst>
              <a:path w="4582938" h="10287000">
                <a:moveTo>
                  <a:pt x="0" y="0"/>
                </a:moveTo>
                <a:lnTo>
                  <a:pt x="4582938" y="0"/>
                </a:lnTo>
                <a:lnTo>
                  <a:pt x="45829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1202" y="831079"/>
            <a:ext cx="7604792" cy="1392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62"/>
              </a:lnSpc>
            </a:pPr>
            <a:r>
              <a:rPr lang="en-US" sz="9217" b="1">
                <a:solidFill>
                  <a:srgbClr val="F2F2F2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2506" y="2616673"/>
            <a:ext cx="5474418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A single snapshot </a:t>
            </a: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misses the</a:t>
            </a:r>
          </a:p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dynamics</a:t>
            </a: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of physiology.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634" y="3987209"/>
            <a:ext cx="7961589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We use </a:t>
            </a: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windowed ECG-derived</a:t>
            </a:r>
          </a:p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HRV features</a:t>
            </a: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to capture change over time.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5435" y="5357746"/>
            <a:ext cx="7181471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Patient-specific baselines</a:t>
            </a: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personalize</a:t>
            </a:r>
          </a:p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what is normal for each individual.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0478" y="6728282"/>
            <a:ext cx="6677244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 </a:t>
            </a: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 deviation</a:t>
            </a: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metric</a:t>
            </a:r>
          </a:p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quantifies the magnitude of change.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8811" y="8083758"/>
            <a:ext cx="5843909" cy="992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E4837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Trajectory visualization</a:t>
            </a: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 reveals</a:t>
            </a:r>
          </a:p>
          <a:p>
            <a:pPr algn="l">
              <a:lnSpc>
                <a:spcPts val="4054"/>
              </a:lnSpc>
            </a:pPr>
            <a:r>
              <a:rPr lang="en-US" sz="2896" b="1">
                <a:solidFill>
                  <a:srgbClr val="F2F2F2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temporal patterns and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2322" y="317634"/>
            <a:ext cx="8205142" cy="862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10"/>
              </a:lnSpc>
            </a:pPr>
            <a:r>
              <a:rPr lang="en-US" sz="6510" b="1" spc="-130" dirty="0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System 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2805" y="1971395"/>
            <a:ext cx="9334314" cy="84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spc="-25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A modular pipeline that ingests clinical and HRV data, models individual twin state, and delivers insights.</a:t>
            </a:r>
          </a:p>
        </p:txBody>
      </p:sp>
      <p:sp>
        <p:nvSpPr>
          <p:cNvPr id="5" name="Freeform 5"/>
          <p:cNvSpPr/>
          <p:nvPr/>
        </p:nvSpPr>
        <p:spPr>
          <a:xfrm>
            <a:off x="3478220" y="3640352"/>
            <a:ext cx="9811206" cy="4722618"/>
          </a:xfrm>
          <a:custGeom>
            <a:avLst/>
            <a:gdLst/>
            <a:ahLst/>
            <a:cxnLst/>
            <a:rect l="l" t="t" r="r" b="b"/>
            <a:pathLst>
              <a:path w="9811206" h="4722618">
                <a:moveTo>
                  <a:pt x="0" y="0"/>
                </a:moveTo>
                <a:lnTo>
                  <a:pt x="9811206" y="0"/>
                </a:lnTo>
                <a:lnTo>
                  <a:pt x="9811206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915732" y="4711687"/>
            <a:ext cx="2625072" cy="3432644"/>
          </a:xfrm>
          <a:custGeom>
            <a:avLst/>
            <a:gdLst/>
            <a:ahLst/>
            <a:cxnLst/>
            <a:rect l="l" t="t" r="r" b="b"/>
            <a:pathLst>
              <a:path w="2625072" h="3432644">
                <a:moveTo>
                  <a:pt x="0" y="0"/>
                </a:moveTo>
                <a:lnTo>
                  <a:pt x="2625072" y="0"/>
                </a:lnTo>
                <a:lnTo>
                  <a:pt x="2625072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66588" y="5236303"/>
            <a:ext cx="1419189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</a:t>
            </a:r>
          </a:p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75925" y="6075703"/>
            <a:ext cx="1800515" cy="1392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Patient-specific baseline calibration</a:t>
            </a:r>
          </a:p>
          <a:p>
            <a:pPr algn="ctr">
              <a:lnSpc>
                <a:spcPts val="1919"/>
              </a:lnSpc>
            </a:pPr>
            <a:endParaRPr lang="en-US" sz="1476" spc="-29">
              <a:solidFill>
                <a:srgbClr val="F6F6F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1919"/>
              </a:lnSpc>
            </a:pPr>
            <a:r>
              <a:rPr lang="en-US" sz="1476" spc="-29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robust scaling using median absolute deviation (MAD)</a:t>
            </a:r>
          </a:p>
        </p:txBody>
      </p:sp>
      <p:sp>
        <p:nvSpPr>
          <p:cNvPr id="9" name="Freeform 9"/>
          <p:cNvSpPr/>
          <p:nvPr/>
        </p:nvSpPr>
        <p:spPr>
          <a:xfrm>
            <a:off x="6956440" y="4711687"/>
            <a:ext cx="2625072" cy="3432644"/>
          </a:xfrm>
          <a:custGeom>
            <a:avLst/>
            <a:gdLst/>
            <a:ahLst/>
            <a:cxnLst/>
            <a:rect l="l" t="t" r="r" b="b"/>
            <a:pathLst>
              <a:path w="2625072" h="3432644">
                <a:moveTo>
                  <a:pt x="0" y="0"/>
                </a:moveTo>
                <a:lnTo>
                  <a:pt x="2625072" y="0"/>
                </a:lnTo>
                <a:lnTo>
                  <a:pt x="2625072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350747" y="5476325"/>
            <a:ext cx="1777529" cy="905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21"/>
              </a:lnSpc>
            </a:pPr>
            <a:r>
              <a:rPr lang="en-US" sz="1863" b="1" spc="-37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</a:t>
            </a:r>
          </a:p>
          <a:p>
            <a:pPr algn="ctr">
              <a:lnSpc>
                <a:spcPts val="2421"/>
              </a:lnSpc>
            </a:pPr>
            <a:r>
              <a:rPr lang="en-US" sz="1863" b="1" spc="-37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DEVIATION</a:t>
            </a:r>
          </a:p>
          <a:p>
            <a:pPr algn="ctr">
              <a:lnSpc>
                <a:spcPts val="2421"/>
              </a:lnSpc>
            </a:pPr>
            <a:r>
              <a:rPr lang="en-US" sz="1863" b="1" spc="-37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AGGREGATION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57670" y="6697294"/>
            <a:ext cx="1963684" cy="488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0"/>
              </a:lnSpc>
            </a:pPr>
            <a:r>
              <a:rPr lang="en-US" sz="1608" spc="-32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Quantifies deviation</a:t>
            </a:r>
          </a:p>
          <a:p>
            <a:pPr algn="ctr">
              <a:lnSpc>
                <a:spcPts val="2090"/>
              </a:lnSpc>
            </a:pPr>
            <a:r>
              <a:rPr lang="en-US" sz="1608" spc="-32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magnitude over time</a:t>
            </a:r>
          </a:p>
        </p:txBody>
      </p:sp>
      <p:sp>
        <p:nvSpPr>
          <p:cNvPr id="12" name="Freeform 12"/>
          <p:cNvSpPr/>
          <p:nvPr/>
        </p:nvSpPr>
        <p:spPr>
          <a:xfrm>
            <a:off x="10008086" y="4711687"/>
            <a:ext cx="2843828" cy="3432644"/>
          </a:xfrm>
          <a:custGeom>
            <a:avLst/>
            <a:gdLst/>
            <a:ahLst/>
            <a:cxnLst/>
            <a:rect l="l" t="t" r="r" b="b"/>
            <a:pathLst>
              <a:path w="2843828" h="3432644">
                <a:moveTo>
                  <a:pt x="0" y="0"/>
                </a:moveTo>
                <a:lnTo>
                  <a:pt x="2843828" y="0"/>
                </a:lnTo>
                <a:lnTo>
                  <a:pt x="2843828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169184" y="5235741"/>
            <a:ext cx="2485913" cy="905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1924" b="1" spc="-38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EXPLORATORY</a:t>
            </a:r>
          </a:p>
          <a:p>
            <a:pPr algn="ctr">
              <a:lnSpc>
                <a:spcPts val="2501"/>
              </a:lnSpc>
            </a:pPr>
            <a:r>
              <a:rPr lang="en-US" sz="1924" b="1" spc="-38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MACHINE-LEARNING</a:t>
            </a:r>
          </a:p>
          <a:p>
            <a:pPr algn="ctr">
              <a:lnSpc>
                <a:spcPts val="2501"/>
              </a:lnSpc>
            </a:pPr>
            <a:r>
              <a:rPr lang="en-US" sz="1924" b="1" spc="-38">
                <a:solidFill>
                  <a:srgbClr val="D9766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EVALUATION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74882" y="6497004"/>
            <a:ext cx="1662195" cy="1062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406" spc="-28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Research models assess patterns</a:t>
            </a:r>
          </a:p>
          <a:p>
            <a:pPr algn="ctr">
              <a:lnSpc>
                <a:spcPts val="1827"/>
              </a:lnSpc>
            </a:pPr>
            <a:r>
              <a:rPr lang="en-US" sz="1406" spc="-28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and associations</a:t>
            </a:r>
          </a:p>
          <a:p>
            <a:pPr algn="ctr">
              <a:lnSpc>
                <a:spcPts val="1827"/>
              </a:lnSpc>
            </a:pPr>
            <a:endParaRPr lang="en-US" sz="1406" spc="-28">
              <a:solidFill>
                <a:srgbClr val="F6F6F6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ctr">
              <a:lnSpc>
                <a:spcPts val="1827"/>
              </a:lnSpc>
            </a:pPr>
            <a:r>
              <a:rPr lang="en-US" sz="1406" b="1" i="1" spc="-28">
                <a:solidFill>
                  <a:srgbClr val="D97665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Not for clinical use</a:t>
            </a:r>
          </a:p>
        </p:txBody>
      </p:sp>
      <p:sp>
        <p:nvSpPr>
          <p:cNvPr id="15" name="Freeform 15"/>
          <p:cNvSpPr/>
          <p:nvPr/>
        </p:nvSpPr>
        <p:spPr>
          <a:xfrm>
            <a:off x="426574" y="3214004"/>
            <a:ext cx="2625072" cy="2787657"/>
          </a:xfrm>
          <a:custGeom>
            <a:avLst/>
            <a:gdLst/>
            <a:ahLst/>
            <a:cxnLst/>
            <a:rect l="l" t="t" r="r" b="b"/>
            <a:pathLst>
              <a:path w="2625072" h="2787657">
                <a:moveTo>
                  <a:pt x="0" y="0"/>
                </a:moveTo>
                <a:lnTo>
                  <a:pt x="2625072" y="0"/>
                </a:lnTo>
                <a:lnTo>
                  <a:pt x="2625072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24210" y="3582726"/>
            <a:ext cx="1340723" cy="26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652" b="1" spc="-33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 LAYER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37617" y="3989656"/>
            <a:ext cx="2089547" cy="9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Static</a:t>
            </a:r>
          </a:p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clinical</a:t>
            </a:r>
          </a:p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3973" y="4994670"/>
            <a:ext cx="1364403" cy="69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demographics</a:t>
            </a:r>
          </a:p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medical history</a:t>
            </a:r>
          </a:p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labs, vitals</a:t>
            </a:r>
          </a:p>
        </p:txBody>
      </p:sp>
      <p:sp>
        <p:nvSpPr>
          <p:cNvPr id="19" name="Freeform 19"/>
          <p:cNvSpPr/>
          <p:nvPr/>
        </p:nvSpPr>
        <p:spPr>
          <a:xfrm>
            <a:off x="426574" y="5990729"/>
            <a:ext cx="2625072" cy="3017228"/>
          </a:xfrm>
          <a:custGeom>
            <a:avLst/>
            <a:gdLst/>
            <a:ahLst/>
            <a:cxnLst/>
            <a:rect l="l" t="t" r="r" b="b"/>
            <a:pathLst>
              <a:path w="2625072" h="3017228">
                <a:moveTo>
                  <a:pt x="0" y="0"/>
                </a:moveTo>
                <a:lnTo>
                  <a:pt x="2625072" y="0"/>
                </a:lnTo>
                <a:lnTo>
                  <a:pt x="2625072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24210" y="6444285"/>
            <a:ext cx="1340723" cy="26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652" b="1" spc="-33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INPUT LAYER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37617" y="6851216"/>
            <a:ext cx="2089547" cy="91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Dynamic</a:t>
            </a:r>
          </a:p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ECG-derived</a:t>
            </a:r>
          </a:p>
          <a:p>
            <a:pPr algn="l">
              <a:lnSpc>
                <a:spcPts val="2479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HRV features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21446" y="7841169"/>
            <a:ext cx="1617116" cy="69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time- and</a:t>
            </a:r>
          </a:p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frequency domain</a:t>
            </a:r>
          </a:p>
          <a:p>
            <a:pPr algn="l">
              <a:lnSpc>
                <a:spcPts val="1919"/>
              </a:lnSpc>
            </a:pPr>
            <a:r>
              <a:rPr lang="en-US" sz="1476" spc="-2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features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3341" y="3052481"/>
            <a:ext cx="2944903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SYNTHETIC PUBLIC DEMO</a:t>
            </a:r>
          </a:p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ENVIRONMENT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544165" y="3674509"/>
            <a:ext cx="2163255" cy="265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7"/>
              </a:lnSpc>
            </a:pPr>
            <a:r>
              <a:rPr lang="en-US" sz="1652" b="1" i="1" spc="-33">
                <a:solidFill>
                  <a:srgbClr val="399D99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Deployed separately</a:t>
            </a:r>
          </a:p>
        </p:txBody>
      </p:sp>
      <p:sp>
        <p:nvSpPr>
          <p:cNvPr id="26" name="Freeform 26"/>
          <p:cNvSpPr/>
          <p:nvPr/>
        </p:nvSpPr>
        <p:spPr>
          <a:xfrm>
            <a:off x="13923818" y="4285339"/>
            <a:ext cx="3500096" cy="1716322"/>
          </a:xfrm>
          <a:custGeom>
            <a:avLst/>
            <a:gdLst/>
            <a:ahLst/>
            <a:cxnLst/>
            <a:rect l="l" t="t" r="r" b="b"/>
            <a:pathLst>
              <a:path w="3500096" h="1716322">
                <a:moveTo>
                  <a:pt x="0" y="0"/>
                </a:moveTo>
                <a:lnTo>
                  <a:pt x="3500096" y="0"/>
                </a:lnTo>
                <a:lnTo>
                  <a:pt x="350009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4504195" y="4685188"/>
            <a:ext cx="2243193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FLASK DASHBOARD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613797" y="5085694"/>
            <a:ext cx="2038994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spc="-36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Twin State insights</a:t>
            </a:r>
          </a:p>
          <a:p>
            <a:pPr algn="ctr">
              <a:lnSpc>
                <a:spcPts val="2353"/>
              </a:lnSpc>
            </a:pPr>
            <a:r>
              <a:rPr lang="en-US" sz="1810" spc="-36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and trajectories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3923818" y="6635716"/>
            <a:ext cx="3500096" cy="1727254"/>
          </a:xfrm>
          <a:custGeom>
            <a:avLst/>
            <a:gdLst/>
            <a:ahLst/>
            <a:cxnLst/>
            <a:rect l="l" t="t" r="r" b="b"/>
            <a:pathLst>
              <a:path w="3500096" h="1727254">
                <a:moveTo>
                  <a:pt x="0" y="0"/>
                </a:moveTo>
                <a:lnTo>
                  <a:pt x="3500096" y="0"/>
                </a:lnTo>
                <a:lnTo>
                  <a:pt x="350009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14413865" y="7049740"/>
            <a:ext cx="2423854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WHAT-IF SIMULATOR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623772" y="7435186"/>
            <a:ext cx="2019042" cy="557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spc="-36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Explore scenarios</a:t>
            </a:r>
          </a:p>
          <a:p>
            <a:pPr algn="ctr">
              <a:lnSpc>
                <a:spcPts val="2353"/>
              </a:lnSpc>
            </a:pPr>
            <a:r>
              <a:rPr lang="en-US" sz="1810" spc="-36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with synthetic data</a:t>
            </a:r>
          </a:p>
        </p:txBody>
      </p:sp>
      <p:sp>
        <p:nvSpPr>
          <p:cNvPr id="32" name="Freeform 32"/>
          <p:cNvSpPr/>
          <p:nvPr/>
        </p:nvSpPr>
        <p:spPr>
          <a:xfrm>
            <a:off x="2821952" y="4493047"/>
            <a:ext cx="667206" cy="3017228"/>
          </a:xfrm>
          <a:custGeom>
            <a:avLst/>
            <a:gdLst/>
            <a:ahLst/>
            <a:cxnLst/>
            <a:rect l="l" t="t" r="r" b="b"/>
            <a:pathLst>
              <a:path w="667206" h="3017228">
                <a:moveTo>
                  <a:pt x="0" y="0"/>
                </a:moveTo>
                <a:lnTo>
                  <a:pt x="667206" y="0"/>
                </a:lnTo>
                <a:lnTo>
                  <a:pt x="667206" y="3017228"/>
                </a:lnTo>
                <a:lnTo>
                  <a:pt x="0" y="30172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3259464" y="620936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6311110" y="6209369"/>
            <a:ext cx="875024" cy="437279"/>
          </a:xfrm>
          <a:custGeom>
            <a:avLst/>
            <a:gdLst/>
            <a:ahLst/>
            <a:cxnLst/>
            <a:rect l="l" t="t" r="r" b="b"/>
            <a:pathLst>
              <a:path w="875024" h="437279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9351818" y="6209369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12622220" y="6209369"/>
            <a:ext cx="667206" cy="229572"/>
          </a:xfrm>
          <a:custGeom>
            <a:avLst/>
            <a:gdLst/>
            <a:ahLst/>
            <a:cxnLst/>
            <a:rect l="l" t="t" r="r" b="b"/>
            <a:pathLst>
              <a:path w="667206" h="229572">
                <a:moveTo>
                  <a:pt x="0" y="0"/>
                </a:moveTo>
                <a:lnTo>
                  <a:pt x="667206" y="0"/>
                </a:lnTo>
                <a:lnTo>
                  <a:pt x="66720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3278488" y="4919394"/>
            <a:ext cx="875024" cy="448211"/>
          </a:xfrm>
          <a:custGeom>
            <a:avLst/>
            <a:gdLst/>
            <a:ahLst/>
            <a:cxnLst/>
            <a:rect l="l" t="t" r="r" b="b"/>
            <a:pathLst>
              <a:path w="875024" h="448211">
                <a:moveTo>
                  <a:pt x="0" y="0"/>
                </a:moveTo>
                <a:lnTo>
                  <a:pt x="875024" y="0"/>
                </a:lnTo>
                <a:lnTo>
                  <a:pt x="87502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5455110" y="5783021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645330" y="9204733"/>
            <a:ext cx="885962" cy="448211"/>
          </a:xfrm>
          <a:custGeom>
            <a:avLst/>
            <a:gdLst/>
            <a:ahLst/>
            <a:cxnLst/>
            <a:rect l="l" t="t" r="r" b="b"/>
            <a:pathLst>
              <a:path w="885962" h="448211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3040708" y="9204733"/>
            <a:ext cx="885962" cy="655919"/>
          </a:xfrm>
          <a:custGeom>
            <a:avLst/>
            <a:gdLst/>
            <a:ahLst/>
            <a:cxnLst/>
            <a:rect l="l" t="t" r="r" b="b"/>
            <a:pathLst>
              <a:path w="885962" h="655919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41" name="TextBox 41"/>
          <p:cNvSpPr txBox="1"/>
          <p:nvPr/>
        </p:nvSpPr>
        <p:spPr>
          <a:xfrm>
            <a:off x="3944093" y="9329274"/>
            <a:ext cx="2068869" cy="24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3"/>
              </a:lnSpc>
            </a:pPr>
            <a:r>
              <a:rPr lang="en-US" sz="1564" spc="-31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Component boundary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12887" y="4037571"/>
            <a:ext cx="4244141" cy="27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53"/>
              </a:lnSpc>
            </a:pPr>
            <a:r>
              <a:rPr lang="en-US" sz="1810" b="1" spc="-36">
                <a:solidFill>
                  <a:srgbClr val="399D9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RESEARCH PIPELINE (EXPLORATORY)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705424" y="9339077"/>
            <a:ext cx="907637" cy="23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90"/>
              </a:lnSpc>
            </a:pPr>
            <a:r>
              <a:rPr lang="en-US" sz="1608" spc="-32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Data flow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53B51F1-B9CF-2500-9358-5EFFCB2FD08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26763" y="932494"/>
            <a:ext cx="8938577" cy="830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8"/>
              </a:lnSpc>
            </a:pPr>
            <a:r>
              <a:rPr lang="en-US" sz="6288" b="1" spc="61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Windowed HRV Inputs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08561" y="2520054"/>
            <a:ext cx="2678906" cy="668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 spc="22" dirty="0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ECG-DERIVED</a:t>
            </a:r>
          </a:p>
          <a:p>
            <a:pPr algn="l">
              <a:lnSpc>
                <a:spcPts val="2786"/>
              </a:lnSpc>
            </a:pPr>
            <a:r>
              <a:rPr lang="en-US" sz="2321" b="1" spc="22" dirty="0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HRV FEATURE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35670" y="2499622"/>
            <a:ext cx="2678906" cy="285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7"/>
              </a:lnSpc>
            </a:pPr>
            <a:r>
              <a:rPr lang="en-US" sz="1989" b="1" spc="19" dirty="0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WHAT IT MEASURES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61484" y="2628367"/>
            <a:ext cx="2678906" cy="32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6"/>
              </a:lnSpc>
            </a:pPr>
            <a:r>
              <a:rPr lang="en-US" sz="2188" b="1" spc="21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WHY IT MATTERS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2995365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41737" y="3552641"/>
            <a:ext cx="1937242" cy="301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757" b="1" spc="17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Beats per minute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21503" y="3338526"/>
            <a:ext cx="3133862" cy="63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757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Reflects overall heart rate</a:t>
            </a:r>
          </a:p>
          <a:p>
            <a:pPr algn="l">
              <a:lnSpc>
                <a:spcPts val="2636"/>
              </a:lnSpc>
            </a:pPr>
            <a:r>
              <a:rPr lang="en-US" sz="1757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and autonomic balance</a:t>
            </a:r>
          </a:p>
        </p:txBody>
      </p:sp>
      <p:sp>
        <p:nvSpPr>
          <p:cNvPr id="10" name="Freeform 10"/>
          <p:cNvSpPr/>
          <p:nvPr/>
        </p:nvSpPr>
        <p:spPr>
          <a:xfrm>
            <a:off x="426574" y="4285339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23008" y="4707889"/>
            <a:ext cx="2142830" cy="41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390" b="1" spc="23" dirty="0" err="1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Mean_RR_ms</a:t>
            </a:r>
            <a:endParaRPr lang="en-US" sz="2390" b="1" spc="23" dirty="0">
              <a:solidFill>
                <a:srgbClr val="F1856D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3054464" y="4457068"/>
            <a:ext cx="2647111" cy="1116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1968" b="1" spc="19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Average time between heartbeats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31683" y="4583430"/>
            <a:ext cx="2980111" cy="76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b="1" spc="2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Captures baseline cardiac rhythm</a:t>
            </a:r>
          </a:p>
        </p:txBody>
      </p:sp>
      <p:sp>
        <p:nvSpPr>
          <p:cNvPr id="14" name="Freeform 14"/>
          <p:cNvSpPr/>
          <p:nvPr/>
        </p:nvSpPr>
        <p:spPr>
          <a:xfrm>
            <a:off x="426574" y="5356674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28323" y="5935738"/>
            <a:ext cx="1533235" cy="405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337" b="1" spc="22" dirty="0" err="1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SDNN_ms</a:t>
            </a:r>
            <a:endParaRPr lang="en-US" sz="2337" b="1" spc="22" dirty="0">
              <a:solidFill>
                <a:srgbClr val="F1856D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032178" y="5783022"/>
            <a:ext cx="2227086" cy="635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757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Variability in all RR</a:t>
            </a:r>
          </a:p>
          <a:p>
            <a:pPr algn="l">
              <a:lnSpc>
                <a:spcPts val="2636"/>
              </a:lnSpc>
            </a:pPr>
            <a:r>
              <a:rPr lang="en-US" sz="1757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intervals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129883" y="5783022"/>
            <a:ext cx="2886215" cy="968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636"/>
              </a:lnSpc>
            </a:pPr>
            <a:r>
              <a:rPr lang="en-US" sz="1757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Indicates overall HRV and physiological resilience</a:t>
            </a:r>
          </a:p>
        </p:txBody>
      </p:sp>
      <p:sp>
        <p:nvSpPr>
          <p:cNvPr id="18" name="Freeform 18"/>
          <p:cNvSpPr/>
          <p:nvPr/>
        </p:nvSpPr>
        <p:spPr>
          <a:xfrm>
            <a:off x="426574" y="6635716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25738" y="7132686"/>
            <a:ext cx="2055833" cy="416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390" b="1" spc="23" dirty="0" err="1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RMSSD_ms</a:t>
            </a:r>
            <a:endParaRPr lang="en-US" sz="2390" b="1" spc="23" dirty="0">
              <a:solidFill>
                <a:srgbClr val="F1856D"/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016755" y="7000131"/>
            <a:ext cx="2515001" cy="6597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1828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Short-term variation</a:t>
            </a:r>
          </a:p>
          <a:p>
            <a:pPr algn="l">
              <a:lnSpc>
                <a:spcPts val="2742"/>
              </a:lnSpc>
            </a:pPr>
            <a:r>
              <a:rPr lang="en-US" sz="1828" b="1" spc="17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in RR intervals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24657" y="6967947"/>
            <a:ext cx="3264441" cy="931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18"/>
              </a:lnSpc>
            </a:pPr>
            <a:r>
              <a:rPr lang="en-US" sz="1678" b="1" spc="16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Sensitive to parasympathetic (vagal) activity</a:t>
            </a:r>
          </a:p>
        </p:txBody>
      </p:sp>
      <p:sp>
        <p:nvSpPr>
          <p:cNvPr id="22" name="Freeform 22"/>
          <p:cNvSpPr/>
          <p:nvPr/>
        </p:nvSpPr>
        <p:spPr>
          <a:xfrm>
            <a:off x="426574" y="7925691"/>
            <a:ext cx="8717426" cy="218640"/>
          </a:xfrm>
          <a:custGeom>
            <a:avLst/>
            <a:gdLst/>
            <a:ahLst/>
            <a:cxnLst/>
            <a:rect l="l" t="t" r="r" b="b"/>
            <a:pathLst>
              <a:path w="8717426" h="218640">
                <a:moveTo>
                  <a:pt x="0" y="0"/>
                </a:moveTo>
                <a:lnTo>
                  <a:pt x="8717426" y="0"/>
                </a:lnTo>
                <a:lnTo>
                  <a:pt x="8717426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20267" y="8434835"/>
            <a:ext cx="2267013" cy="408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7"/>
              </a:lnSpc>
            </a:pPr>
            <a:r>
              <a:rPr lang="en-US" sz="2285" b="1" spc="22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pNN50 percent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134330" y="8319076"/>
            <a:ext cx="2677979" cy="84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3"/>
              </a:lnSpc>
            </a:pPr>
            <a:r>
              <a:rPr lang="en-US" sz="1555" b="1" spc="15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Percentage of successive RR intervals differing</a:t>
            </a:r>
          </a:p>
          <a:p>
            <a:pPr algn="l">
              <a:lnSpc>
                <a:spcPts val="2333"/>
              </a:lnSpc>
            </a:pPr>
            <a:r>
              <a:rPr lang="en-US" sz="1555" b="1" spc="15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by &gt;50 </a:t>
            </a:r>
            <a:r>
              <a:rPr lang="en-US" sz="1555" b="1" spc="15" dirty="0" err="1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ms</a:t>
            </a:r>
            <a:endParaRPr lang="en-US" sz="1555" b="1" spc="15" dirty="0">
              <a:solidFill>
                <a:srgbClr val="FFFFFF">
                  <a:alpha val="89804"/>
                </a:srgbClr>
              </a:solidFill>
              <a:latin typeface="Open Sauce Medium"/>
              <a:ea typeface="Open Sauce Medium"/>
              <a:cs typeface="Open Sauce Medium"/>
              <a:sym typeface="Open Sauce Medium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129883" y="8257920"/>
            <a:ext cx="3160130" cy="623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lang="en-US" sz="1740" b="1" spc="16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Highlights rapid autonomic shifts and recovery capacity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67923" y="626209"/>
            <a:ext cx="4599240" cy="339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3"/>
              </a:lnSpc>
            </a:pPr>
            <a:r>
              <a:rPr lang="en-US" sz="1955" b="1" spc="19" dirty="0">
                <a:solidFill>
                  <a:srgbClr val="70B8B4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15-MINUTE WINDOWING APPROACH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19894" y="3044797"/>
            <a:ext cx="1352791" cy="3426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4"/>
              </a:lnSpc>
            </a:pPr>
            <a:r>
              <a:rPr lang="en-US" sz="1876" b="1" spc="1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ECG Signal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98876" y="3055075"/>
            <a:ext cx="2427989" cy="331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16" b="1" spc="18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15-Minute Windows</a:t>
            </a:r>
          </a:p>
        </p:txBody>
      </p:sp>
      <p:sp>
        <p:nvSpPr>
          <p:cNvPr id="29" name="Freeform 29"/>
          <p:cNvSpPr/>
          <p:nvPr/>
        </p:nvSpPr>
        <p:spPr>
          <a:xfrm>
            <a:off x="9789330" y="3421712"/>
            <a:ext cx="2187560" cy="1300906"/>
          </a:xfrm>
          <a:custGeom>
            <a:avLst/>
            <a:gdLst/>
            <a:ahLst/>
            <a:cxnLst/>
            <a:rect l="l" t="t" r="r" b="b"/>
            <a:pathLst>
              <a:path w="2187560" h="1300906">
                <a:moveTo>
                  <a:pt x="0" y="0"/>
                </a:moveTo>
                <a:lnTo>
                  <a:pt x="2187560" y="0"/>
                </a:lnTo>
                <a:lnTo>
                  <a:pt x="218756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789330" y="3640352"/>
            <a:ext cx="2187560" cy="863627"/>
          </a:xfrm>
          <a:custGeom>
            <a:avLst/>
            <a:gdLst/>
            <a:ahLst/>
            <a:cxnLst/>
            <a:rect l="l" t="t" r="r" b="b"/>
            <a:pathLst>
              <a:path w="2187560" h="863627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965952" y="3848060"/>
            <a:ext cx="667206" cy="448211"/>
          </a:xfrm>
          <a:custGeom>
            <a:avLst/>
            <a:gdLst/>
            <a:ahLst/>
            <a:cxnLst/>
            <a:rect l="l" t="t" r="r" b="b"/>
            <a:pathLst>
              <a:path w="667206" h="448211">
                <a:moveTo>
                  <a:pt x="0" y="0"/>
                </a:moveTo>
                <a:lnTo>
                  <a:pt x="667206" y="0"/>
                </a:lnTo>
                <a:lnTo>
                  <a:pt x="66720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12622220" y="3421712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13497244" y="3421712"/>
            <a:ext cx="1093780" cy="1300906"/>
          </a:xfrm>
          <a:custGeom>
            <a:avLst/>
            <a:gdLst/>
            <a:ahLst/>
            <a:cxnLst/>
            <a:rect l="l" t="t" r="r" b="b"/>
            <a:pathLst>
              <a:path w="1093780" h="1300906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14580086" y="3421712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5973430" y="3860453"/>
            <a:ext cx="423435" cy="474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01"/>
              </a:lnSpc>
            </a:pPr>
            <a:r>
              <a:rPr lang="en-US" sz="2667" b="1" spc="26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•••</a:t>
            </a:r>
          </a:p>
        </p:txBody>
      </p:sp>
      <p:sp>
        <p:nvSpPr>
          <p:cNvPr id="36" name="Freeform 36"/>
          <p:cNvSpPr/>
          <p:nvPr/>
        </p:nvSpPr>
        <p:spPr>
          <a:xfrm>
            <a:off x="16537952" y="3421712"/>
            <a:ext cx="1104718" cy="1300906"/>
          </a:xfrm>
          <a:custGeom>
            <a:avLst/>
            <a:gdLst/>
            <a:ahLst/>
            <a:cxnLst/>
            <a:rect l="l" t="t" r="r" b="b"/>
            <a:pathLst>
              <a:path w="1104718" h="1300906">
                <a:moveTo>
                  <a:pt x="0" y="0"/>
                </a:moveTo>
                <a:lnTo>
                  <a:pt x="1104718" y="0"/>
                </a:lnTo>
                <a:lnTo>
                  <a:pt x="1104718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6896699" y="3819899"/>
            <a:ext cx="505709" cy="536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2944" b="1" spc="28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96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221421" y="4764369"/>
            <a:ext cx="1200075" cy="316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836" b="1" spc="17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 24 Hours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684903" y="4723063"/>
            <a:ext cx="781141" cy="380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1"/>
              </a:lnSpc>
            </a:pPr>
            <a:r>
              <a:rPr lang="en-US" sz="2074" b="1" spc="2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00:00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779915" y="4740006"/>
            <a:ext cx="734992" cy="356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2"/>
              </a:lnSpc>
            </a:pPr>
            <a:r>
              <a:rPr lang="en-US" sz="1995" b="1" spc="19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24:00</a:t>
            </a:r>
          </a:p>
        </p:txBody>
      </p:sp>
      <p:sp>
        <p:nvSpPr>
          <p:cNvPr id="41" name="Freeform 41"/>
          <p:cNvSpPr/>
          <p:nvPr/>
        </p:nvSpPr>
        <p:spPr>
          <a:xfrm>
            <a:off x="9789330" y="5564382"/>
            <a:ext cx="7853340" cy="229572"/>
          </a:xfrm>
          <a:custGeom>
            <a:avLst/>
            <a:gdLst/>
            <a:ahLst/>
            <a:cxnLst/>
            <a:rect l="l" t="t" r="r" b="b"/>
            <a:pathLst>
              <a:path w="7853340" h="229572">
                <a:moveTo>
                  <a:pt x="0" y="0"/>
                </a:moveTo>
                <a:lnTo>
                  <a:pt x="7853340" y="0"/>
                </a:lnTo>
                <a:lnTo>
                  <a:pt x="785334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3923818" y="6209369"/>
            <a:ext cx="229694" cy="1508614"/>
          </a:xfrm>
          <a:custGeom>
            <a:avLst/>
            <a:gdLst/>
            <a:ahLst/>
            <a:cxnLst/>
            <a:rect l="l" t="t" r="r" b="b"/>
            <a:pathLst>
              <a:path w="229694" h="150861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10028930" y="6533422"/>
            <a:ext cx="1696812" cy="1311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65"/>
              </a:lnSpc>
            </a:pPr>
            <a:r>
              <a:rPr lang="en-US" sz="9965" b="1" spc="97" dirty="0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96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713205" y="6664595"/>
            <a:ext cx="2040426" cy="437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2"/>
              </a:lnSpc>
            </a:pPr>
            <a:r>
              <a:rPr lang="en-US" sz="2917" b="1" spc="28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WINDOWS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88695" y="6470093"/>
            <a:ext cx="3097661" cy="9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2"/>
              </a:lnSpc>
            </a:pPr>
            <a:r>
              <a:rPr lang="en-US" sz="1828" b="1" spc="17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Each window produces</a:t>
            </a:r>
          </a:p>
          <a:p>
            <a:pPr algn="l">
              <a:lnSpc>
                <a:spcPts val="2742"/>
              </a:lnSpc>
            </a:pPr>
            <a:r>
              <a:rPr lang="en-US" sz="1828" b="1" spc="17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five HRV features to capture change over time.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976366" y="8134344"/>
            <a:ext cx="6953267" cy="752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0"/>
              </a:lnSpc>
            </a:pPr>
            <a:r>
              <a:rPr lang="en-US" sz="2113" b="1" spc="20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Synthetic demonstration setup: 24-hour ECG segmented into </a:t>
            </a:r>
            <a:r>
              <a:rPr lang="en-US" sz="2113" b="1" spc="20" dirty="0">
                <a:solidFill>
                  <a:srgbClr val="F1856D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96 windows</a:t>
            </a:r>
            <a:r>
              <a:rPr lang="en-US" sz="2113" b="1" spc="20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for </a:t>
            </a:r>
            <a:r>
              <a:rPr lang="en-US" sz="2113" b="1" spc="20" dirty="0" err="1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explorory</a:t>
            </a:r>
            <a:r>
              <a:rPr lang="en-US" sz="2113" b="1" spc="20" dirty="0">
                <a:solidFill>
                  <a:srgbClr val="FFFFFF">
                    <a:alpha val="89804"/>
                  </a:srgbClr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analysis.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13921" y="7225268"/>
            <a:ext cx="1968805" cy="35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047" b="1" spc="19" dirty="0">
                <a:solidFill>
                  <a:srgbClr val="FFFFFF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PER 24 HOURS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0683" y="3510943"/>
            <a:ext cx="1865723" cy="405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6"/>
              </a:lnSpc>
            </a:pPr>
            <a:r>
              <a:rPr lang="en-US" sz="2337" b="1" spc="22" dirty="0">
                <a:solidFill>
                  <a:srgbClr val="F1856D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HR_ bpm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029445" y="3768120"/>
            <a:ext cx="239468" cy="63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6"/>
              </a:lnSpc>
            </a:pPr>
            <a:r>
              <a:rPr lang="en-US" sz="3537" b="1" spc="34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046737" y="3768120"/>
            <a:ext cx="240853" cy="63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6"/>
              </a:lnSpc>
            </a:pPr>
            <a:r>
              <a:rPr lang="en-US" sz="3537" b="1" spc="34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3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987195" y="3768120"/>
            <a:ext cx="180844" cy="630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06"/>
              </a:lnSpc>
            </a:pPr>
            <a:r>
              <a:rPr lang="en-US" sz="3537" b="1" spc="34">
                <a:solidFill>
                  <a:srgbClr val="4DB0AC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6A9F8C4D-05D0-7C1B-72E8-B9C0B0347DF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2914" y="1737509"/>
            <a:ext cx="8505086" cy="85494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99474" y="1020935"/>
            <a:ext cx="10419775" cy="918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2"/>
              </a:lnSpc>
            </a:pPr>
            <a:r>
              <a:rPr lang="en-US" sz="6982" b="1" spc="-139">
                <a:solidFill>
                  <a:srgbClr val="F1F1F1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Twin State Methodology</a:t>
            </a:r>
          </a:p>
        </p:txBody>
      </p:sp>
      <p:sp>
        <p:nvSpPr>
          <p:cNvPr id="4" name="Freeform 4"/>
          <p:cNvSpPr/>
          <p:nvPr/>
        </p:nvSpPr>
        <p:spPr>
          <a:xfrm>
            <a:off x="1739110" y="2350377"/>
            <a:ext cx="229694" cy="1082267"/>
          </a:xfrm>
          <a:custGeom>
            <a:avLst/>
            <a:gdLst/>
            <a:ahLst/>
            <a:cxnLst/>
            <a:rect l="l" t="t" r="r" b="b"/>
            <a:pathLst>
              <a:path w="229694" h="1082267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74900" y="2199564"/>
            <a:ext cx="3425716" cy="73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355" b="1" spc="-47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Establish each patient’s</a:t>
            </a:r>
          </a:p>
          <a:p>
            <a:pPr algn="l">
              <a:lnSpc>
                <a:spcPts val="3061"/>
              </a:lnSpc>
            </a:pPr>
            <a:r>
              <a:rPr lang="en-US" sz="2355" b="1" spc="-47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median baseline.</a:t>
            </a:r>
          </a:p>
        </p:txBody>
      </p:sp>
      <p:sp>
        <p:nvSpPr>
          <p:cNvPr id="6" name="Freeform 6"/>
          <p:cNvSpPr/>
          <p:nvPr/>
        </p:nvSpPr>
        <p:spPr>
          <a:xfrm>
            <a:off x="2821952" y="3421712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78298" y="4236283"/>
            <a:ext cx="638347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3893" b="1" spc="-77">
                <a:solidFill>
                  <a:srgbClr val="3693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8" name="Freeform 8"/>
          <p:cNvSpPr/>
          <p:nvPr/>
        </p:nvSpPr>
        <p:spPr>
          <a:xfrm>
            <a:off x="1739110" y="4066699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48920" y="4145448"/>
            <a:ext cx="5242480" cy="78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Compute robust z-scores</a:t>
            </a:r>
          </a:p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using median absolute deviation.</a:t>
            </a:r>
          </a:p>
        </p:txBody>
      </p:sp>
      <p:sp>
        <p:nvSpPr>
          <p:cNvPr id="10" name="Freeform 10"/>
          <p:cNvSpPr/>
          <p:nvPr/>
        </p:nvSpPr>
        <p:spPr>
          <a:xfrm>
            <a:off x="2821952" y="4919394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73939" y="5938158"/>
            <a:ext cx="647064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3893" b="1" spc="-77">
                <a:solidFill>
                  <a:srgbClr val="3693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39110" y="5783021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152239" y="5832262"/>
            <a:ext cx="4948122" cy="78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Aggregate absolute deviations</a:t>
            </a:r>
          </a:p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to summarize feature shifts.</a:t>
            </a:r>
          </a:p>
        </p:txBody>
      </p:sp>
      <p:sp>
        <p:nvSpPr>
          <p:cNvPr id="14" name="Freeform 14"/>
          <p:cNvSpPr/>
          <p:nvPr/>
        </p:nvSpPr>
        <p:spPr>
          <a:xfrm>
            <a:off x="2821952" y="6635716"/>
            <a:ext cx="667206" cy="874559"/>
          </a:xfrm>
          <a:custGeom>
            <a:avLst/>
            <a:gdLst/>
            <a:ahLst/>
            <a:cxnLst/>
            <a:rect l="l" t="t" r="r" b="b"/>
            <a:pathLst>
              <a:path w="667206" h="874559">
                <a:moveTo>
                  <a:pt x="0" y="0"/>
                </a:moveTo>
                <a:lnTo>
                  <a:pt x="667206" y="0"/>
                </a:lnTo>
                <a:lnTo>
                  <a:pt x="66720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5720" y="7640033"/>
            <a:ext cx="663503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3893" b="1" spc="-77">
                <a:solidFill>
                  <a:srgbClr val="3693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16" name="Freeform 16"/>
          <p:cNvSpPr/>
          <p:nvPr/>
        </p:nvSpPr>
        <p:spPr>
          <a:xfrm>
            <a:off x="1739110" y="7499343"/>
            <a:ext cx="229694" cy="863627"/>
          </a:xfrm>
          <a:custGeom>
            <a:avLst/>
            <a:gdLst/>
            <a:ahLst/>
            <a:cxnLst/>
            <a:rect l="l" t="t" r="r" b="b"/>
            <a:pathLst>
              <a:path w="229694" h="863627">
                <a:moveTo>
                  <a:pt x="0" y="0"/>
                </a:moveTo>
                <a:lnTo>
                  <a:pt x="229694" y="0"/>
                </a:lnTo>
                <a:lnTo>
                  <a:pt x="22969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161320" y="7534137"/>
            <a:ext cx="3538266" cy="78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Calculate the Twin State</a:t>
            </a:r>
          </a:p>
          <a:p>
            <a:pPr algn="l">
              <a:lnSpc>
                <a:spcPts val="3118"/>
              </a:lnSpc>
            </a:pPr>
            <a:r>
              <a:rPr lang="en-US" sz="2399" b="1" spc="-48" dirty="0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deviation metric.</a:t>
            </a:r>
          </a:p>
        </p:txBody>
      </p:sp>
      <p:sp>
        <p:nvSpPr>
          <p:cNvPr id="18" name="Freeform 18"/>
          <p:cNvSpPr/>
          <p:nvPr/>
        </p:nvSpPr>
        <p:spPr>
          <a:xfrm>
            <a:off x="7175196" y="2569017"/>
            <a:ext cx="885962" cy="5367606"/>
          </a:xfrm>
          <a:custGeom>
            <a:avLst/>
            <a:gdLst/>
            <a:ahLst/>
            <a:cxnLst/>
            <a:rect l="l" t="t" r="r" b="b"/>
            <a:pathLst>
              <a:path w="885962" h="5367606">
                <a:moveTo>
                  <a:pt x="0" y="0"/>
                </a:moveTo>
                <a:lnTo>
                  <a:pt x="885962" y="0"/>
                </a:lnTo>
                <a:lnTo>
                  <a:pt x="885962" y="5367606"/>
                </a:lnTo>
                <a:lnTo>
                  <a:pt x="0" y="5367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831464" y="4711687"/>
            <a:ext cx="885962" cy="437279"/>
          </a:xfrm>
          <a:custGeom>
            <a:avLst/>
            <a:gdLst/>
            <a:ahLst/>
            <a:cxnLst/>
            <a:rect l="l" t="t" r="r" b="b"/>
            <a:pathLst>
              <a:path w="885962" h="437279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032428" y="2521005"/>
            <a:ext cx="4906456" cy="361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759" b="1" spc="26">
                <a:solidFill>
                  <a:srgbClr val="3693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 THRESHOLDS</a:t>
            </a:r>
          </a:p>
        </p:txBody>
      </p:sp>
      <p:sp>
        <p:nvSpPr>
          <p:cNvPr id="21" name="Freeform 21"/>
          <p:cNvSpPr/>
          <p:nvPr/>
        </p:nvSpPr>
        <p:spPr>
          <a:xfrm>
            <a:off x="8925244" y="2995365"/>
            <a:ext cx="8498670" cy="1508614"/>
          </a:xfrm>
          <a:custGeom>
            <a:avLst/>
            <a:gdLst/>
            <a:ahLst/>
            <a:cxnLst/>
            <a:rect l="l" t="t" r="r" b="b"/>
            <a:pathLst>
              <a:path w="8498670" h="1508614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334347" y="3369229"/>
            <a:ext cx="1503555" cy="78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b="1" spc="-120">
                <a:solidFill>
                  <a:srgbClr val="E8766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&lt;1.0</a:t>
            </a:r>
          </a:p>
        </p:txBody>
      </p:sp>
      <p:sp>
        <p:nvSpPr>
          <p:cNvPr id="23" name="Freeform 23"/>
          <p:cNvSpPr/>
          <p:nvPr/>
        </p:nvSpPr>
        <p:spPr>
          <a:xfrm>
            <a:off x="12184708" y="3421712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2490386" y="3573136"/>
            <a:ext cx="2010601" cy="39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99" b="1" spc="-48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Near Baseline</a:t>
            </a:r>
          </a:p>
        </p:txBody>
      </p:sp>
      <p:sp>
        <p:nvSpPr>
          <p:cNvPr id="25" name="Freeform 25"/>
          <p:cNvSpPr/>
          <p:nvPr/>
        </p:nvSpPr>
        <p:spPr>
          <a:xfrm>
            <a:off x="8925244" y="4285339"/>
            <a:ext cx="8498670" cy="1508614"/>
          </a:xfrm>
          <a:custGeom>
            <a:avLst/>
            <a:gdLst/>
            <a:ahLst/>
            <a:cxnLst/>
            <a:rect l="l" t="t" r="r" b="b"/>
            <a:pathLst>
              <a:path w="8498670" h="1508614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9319119" y="4736904"/>
            <a:ext cx="3026400" cy="635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2"/>
              </a:lnSpc>
            </a:pPr>
            <a:r>
              <a:rPr lang="en-US" sz="4862" b="1" spc="-97">
                <a:solidFill>
                  <a:srgbClr val="E8766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1.0 ​​to &lt;2.0</a:t>
            </a:r>
          </a:p>
        </p:txBody>
      </p:sp>
      <p:sp>
        <p:nvSpPr>
          <p:cNvPr id="27" name="Freeform 27"/>
          <p:cNvSpPr/>
          <p:nvPr/>
        </p:nvSpPr>
        <p:spPr>
          <a:xfrm>
            <a:off x="12184708" y="4711687"/>
            <a:ext cx="229694" cy="655919"/>
          </a:xfrm>
          <a:custGeom>
            <a:avLst/>
            <a:gdLst/>
            <a:ahLst/>
            <a:cxnLst/>
            <a:rect l="l" t="t" r="r" b="b"/>
            <a:pathLst>
              <a:path w="229694" h="655919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2481916" y="4868368"/>
            <a:ext cx="2857627" cy="390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8"/>
              </a:lnSpc>
            </a:pPr>
            <a:r>
              <a:rPr lang="en-US" sz="2399" b="1" spc="-48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Moderate Deviation</a:t>
            </a:r>
          </a:p>
        </p:txBody>
      </p:sp>
      <p:sp>
        <p:nvSpPr>
          <p:cNvPr id="29" name="Freeform 29"/>
          <p:cNvSpPr/>
          <p:nvPr/>
        </p:nvSpPr>
        <p:spPr>
          <a:xfrm>
            <a:off x="8925244" y="5564382"/>
            <a:ext cx="8498670" cy="1508614"/>
          </a:xfrm>
          <a:custGeom>
            <a:avLst/>
            <a:gdLst/>
            <a:ahLst/>
            <a:cxnLst/>
            <a:rect l="l" t="t" r="r" b="b"/>
            <a:pathLst>
              <a:path w="8498670" h="1508614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9332801" y="6065120"/>
            <a:ext cx="1658229" cy="78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8"/>
              </a:lnSpc>
            </a:pPr>
            <a:r>
              <a:rPr lang="en-US" sz="6008" b="1" spc="-120">
                <a:solidFill>
                  <a:srgbClr val="E8766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&gt;2.0</a:t>
            </a:r>
          </a:p>
        </p:txBody>
      </p:sp>
      <p:sp>
        <p:nvSpPr>
          <p:cNvPr id="31" name="Freeform 31"/>
          <p:cNvSpPr/>
          <p:nvPr/>
        </p:nvSpPr>
        <p:spPr>
          <a:xfrm>
            <a:off x="12184708" y="5990729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489237" y="6218586"/>
            <a:ext cx="2125510" cy="380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5"/>
              </a:lnSpc>
            </a:pPr>
            <a:r>
              <a:rPr lang="en-US" sz="2443" b="1" spc="-48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High Deviation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12165" y="7333054"/>
            <a:ext cx="6932694" cy="84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654" b="1" spc="-53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CAVEAT:</a:t>
            </a:r>
            <a:r>
              <a:rPr lang="en-US" sz="2654" b="1" spc="-53">
                <a:solidFill>
                  <a:srgbClr val="F1F1F1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These thresholds are engineering heuristics, not clinically validated.</a:t>
            </a:r>
          </a:p>
        </p:txBody>
      </p:sp>
      <p:sp>
        <p:nvSpPr>
          <p:cNvPr id="34" name="Freeform 34"/>
          <p:cNvSpPr/>
          <p:nvPr/>
        </p:nvSpPr>
        <p:spPr>
          <a:xfrm>
            <a:off x="4572000" y="8570678"/>
            <a:ext cx="13716000" cy="1508614"/>
          </a:xfrm>
          <a:custGeom>
            <a:avLst/>
            <a:gdLst/>
            <a:ahLst/>
            <a:cxnLst/>
            <a:rect l="l" t="t" r="r" b="b"/>
            <a:pathLst>
              <a:path w="13716000" h="1508614">
                <a:moveTo>
                  <a:pt x="0" y="0"/>
                </a:moveTo>
                <a:lnTo>
                  <a:pt x="13716000" y="0"/>
                </a:lnTo>
                <a:lnTo>
                  <a:pt x="1371600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929481" y="2549469"/>
            <a:ext cx="535981" cy="504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93"/>
              </a:lnSpc>
            </a:pPr>
            <a:r>
              <a:rPr lang="en-US" sz="3893" b="1" spc="-77">
                <a:solidFill>
                  <a:srgbClr val="3693A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0003" y="937235"/>
            <a:ext cx="9651309" cy="787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2"/>
              </a:lnSpc>
            </a:pPr>
            <a:r>
              <a:rPr lang="en-US" sz="6002" b="1" spc="-120">
                <a:solidFill>
                  <a:srgbClr val="F4F4F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Dashboard Demonstration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97696" y="2839257"/>
            <a:ext cx="5239800" cy="3982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b="1" spc="-59" dirty="0">
                <a:solidFill>
                  <a:srgbClr val="E67F6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Live demo of SHARE Digital Twin Overview</a:t>
            </a:r>
          </a:p>
          <a:p>
            <a:pPr algn="l">
              <a:lnSpc>
                <a:spcPts val="4456"/>
              </a:lnSpc>
            </a:pPr>
            <a:endParaRPr lang="en-US" sz="2970" b="1" spc="-59" dirty="0">
              <a:solidFill>
                <a:srgbClr val="E67F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56"/>
              </a:lnSpc>
            </a:pPr>
            <a:endParaRPr lang="en-US" sz="2970" b="1" spc="-59" dirty="0">
              <a:solidFill>
                <a:srgbClr val="E67F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56"/>
              </a:lnSpc>
            </a:pPr>
            <a:endParaRPr lang="en-US" sz="2970" b="1" spc="-59" dirty="0">
              <a:solidFill>
                <a:srgbClr val="E67F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56"/>
              </a:lnSpc>
            </a:pPr>
            <a:endParaRPr lang="en-US" sz="2970" b="1" spc="-59" dirty="0">
              <a:solidFill>
                <a:srgbClr val="E67F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l">
              <a:lnSpc>
                <a:spcPts val="4456"/>
              </a:lnSpc>
            </a:pPr>
            <a:endParaRPr lang="en-US" sz="2970" b="1" spc="-59" dirty="0">
              <a:solidFill>
                <a:srgbClr val="E67F6B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03778" y="4338523"/>
            <a:ext cx="4631536" cy="1378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 dirty="0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 The overview dashboard brings integrated physiology to life.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4651" y="5597986"/>
            <a:ext cx="4544234" cy="1414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2"/>
              </a:lnSpc>
            </a:pPr>
            <a:r>
              <a:rPr lang="en-US" sz="2575" spc="-51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It reveals individual baselines, change over time, and</a:t>
            </a:r>
          </a:p>
          <a:p>
            <a:pPr algn="l">
              <a:lnSpc>
                <a:spcPts val="3862"/>
              </a:lnSpc>
            </a:pPr>
            <a:r>
              <a:rPr lang="en-US" sz="2575" spc="-51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trajectory patterns.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9207" y="7365752"/>
            <a:ext cx="4088678" cy="90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All metrics are derived from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windowed ECG-based HRV.</a:t>
            </a:r>
          </a:p>
        </p:txBody>
      </p:sp>
      <p:sp>
        <p:nvSpPr>
          <p:cNvPr id="8" name="Freeform 8"/>
          <p:cNvSpPr/>
          <p:nvPr/>
        </p:nvSpPr>
        <p:spPr>
          <a:xfrm>
            <a:off x="6529866" y="1924030"/>
            <a:ext cx="11112804" cy="7083928"/>
          </a:xfrm>
          <a:custGeom>
            <a:avLst/>
            <a:gdLst/>
            <a:ahLst/>
            <a:cxnLst/>
            <a:rect l="l" t="t" r="r" b="b"/>
            <a:pathLst>
              <a:path w="11112804" h="7083928">
                <a:moveTo>
                  <a:pt x="0" y="0"/>
                </a:moveTo>
                <a:lnTo>
                  <a:pt x="11112804" y="0"/>
                </a:lnTo>
                <a:lnTo>
                  <a:pt x="11112804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626244" y="4605337"/>
            <a:ext cx="6844274" cy="116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0"/>
              </a:lnSpc>
            </a:pPr>
            <a:r>
              <a:rPr lang="en-US" sz="3328" b="1" spc="-32">
                <a:solidFill>
                  <a:srgbClr val="50A8B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Genuine SHARE Digital Twin Overview Dashboard Screenshot</a:t>
            </a:r>
          </a:p>
        </p:txBody>
      </p:sp>
      <p:sp>
        <p:nvSpPr>
          <p:cNvPr id="10" name="Freeform 10"/>
          <p:cNvSpPr/>
          <p:nvPr/>
        </p:nvSpPr>
        <p:spPr>
          <a:xfrm>
            <a:off x="6529866" y="9204733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438555" y="9119570"/>
            <a:ext cx="7366992" cy="399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2"/>
              </a:lnSpc>
            </a:pPr>
            <a:r>
              <a:rPr lang="en-US" sz="2254" spc="-45">
                <a:solidFill>
                  <a:srgbClr val="D9D9D9"/>
                </a:solidFill>
                <a:latin typeface="Open Sauce"/>
                <a:ea typeface="Open Sauce"/>
                <a:cs typeface="Open Sauce"/>
                <a:sym typeface="Open Sauce"/>
              </a:rPr>
              <a:t>Using fictional synthetic patient data for demonstration.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892622" y="9204733"/>
            <a:ext cx="1750048" cy="229572"/>
          </a:xfrm>
          <a:custGeom>
            <a:avLst/>
            <a:gdLst/>
            <a:ahLst/>
            <a:cxnLst/>
            <a:rect l="l" t="t" r="r" b="b"/>
            <a:pathLst>
              <a:path w="1750048" h="229572">
                <a:moveTo>
                  <a:pt x="0" y="0"/>
                </a:moveTo>
                <a:lnTo>
                  <a:pt x="1750048" y="0"/>
                </a:lnTo>
                <a:lnTo>
                  <a:pt x="175004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57AF5E1-4963-8D62-F899-A7B5A96AFA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58"/>
          <a:stretch>
            <a:fillRect/>
          </a:stretch>
        </p:blipFill>
        <p:spPr>
          <a:xfrm>
            <a:off x="6039966" y="2023283"/>
            <a:ext cx="12248034" cy="82637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8352038"/>
            <a:ext cx="8717426" cy="1934962"/>
          </a:xfrm>
          <a:custGeom>
            <a:avLst/>
            <a:gdLst/>
            <a:ahLst/>
            <a:cxnLst/>
            <a:rect l="l" t="t" r="r" b="b"/>
            <a:pathLst>
              <a:path w="8717426" h="1934962">
                <a:moveTo>
                  <a:pt x="0" y="0"/>
                </a:moveTo>
                <a:lnTo>
                  <a:pt x="8717426" y="0"/>
                </a:lnTo>
                <a:lnTo>
                  <a:pt x="8717426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58222" y="448108"/>
            <a:ext cx="9154938" cy="8800250"/>
          </a:xfrm>
          <a:custGeom>
            <a:avLst/>
            <a:gdLst/>
            <a:ahLst/>
            <a:cxnLst/>
            <a:rect l="l" t="t" r="r" b="b"/>
            <a:pathLst>
              <a:path w="9154938" h="8800250">
                <a:moveTo>
                  <a:pt x="0" y="0"/>
                </a:moveTo>
                <a:lnTo>
                  <a:pt x="9154938" y="0"/>
                </a:lnTo>
                <a:lnTo>
                  <a:pt x="9154938" y="8800250"/>
                </a:lnTo>
                <a:lnTo>
                  <a:pt x="0" y="8800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2800" y="1283956"/>
            <a:ext cx="7334863" cy="864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4"/>
              </a:lnSpc>
            </a:pPr>
            <a:r>
              <a:rPr lang="en-US" sz="6604" b="1" spc="-196">
                <a:solidFill>
                  <a:srgbClr val="F6F6F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What-If Simulation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704" y="2844159"/>
            <a:ext cx="4944484" cy="86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1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Apply controlled mathematical perturbations to </a:t>
            </a:r>
            <a:r>
              <a:rPr lang="en-US" sz="2601" b="1">
                <a:solidFill>
                  <a:srgbClr val="3DB6B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HRV inputs.</a:t>
            </a:r>
          </a:p>
        </p:txBody>
      </p:sp>
      <p:sp>
        <p:nvSpPr>
          <p:cNvPr id="7" name="Freeform 7"/>
          <p:cNvSpPr/>
          <p:nvPr/>
        </p:nvSpPr>
        <p:spPr>
          <a:xfrm>
            <a:off x="426574" y="4066699"/>
            <a:ext cx="6978316" cy="229572"/>
          </a:xfrm>
          <a:custGeom>
            <a:avLst/>
            <a:gdLst/>
            <a:ahLst/>
            <a:cxnLst/>
            <a:rect l="l" t="t" r="r" b="b"/>
            <a:pathLst>
              <a:path w="6978316" h="229572">
                <a:moveTo>
                  <a:pt x="0" y="0"/>
                </a:moveTo>
                <a:lnTo>
                  <a:pt x="6978316" y="0"/>
                </a:lnTo>
                <a:lnTo>
                  <a:pt x="697831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51790" y="4372810"/>
            <a:ext cx="6435815" cy="95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5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Recalculate baseline relative </a:t>
            </a:r>
            <a:r>
              <a:rPr lang="en-US" sz="2759" b="1">
                <a:solidFill>
                  <a:srgbClr val="3DB6B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 deviation</a:t>
            </a:r>
            <a:r>
              <a:rPr lang="en-US" sz="275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 in real time.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5564382"/>
            <a:ext cx="6978316" cy="229572"/>
          </a:xfrm>
          <a:custGeom>
            <a:avLst/>
            <a:gdLst/>
            <a:ahLst/>
            <a:cxnLst/>
            <a:rect l="l" t="t" r="r" b="b"/>
            <a:pathLst>
              <a:path w="6978316" h="229572">
                <a:moveTo>
                  <a:pt x="0" y="0"/>
                </a:moveTo>
                <a:lnTo>
                  <a:pt x="6978316" y="0"/>
                </a:lnTo>
                <a:lnTo>
                  <a:pt x="697831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554578" y="5984320"/>
            <a:ext cx="6157080" cy="950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64"/>
              </a:lnSpc>
            </a:pPr>
            <a:r>
              <a:rPr lang="en-US" sz="275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Visualize scenario outcomes </a:t>
            </a:r>
            <a:r>
              <a:rPr lang="en-US" sz="2759" b="1">
                <a:solidFill>
                  <a:srgbClr val="3DB6B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instantly</a:t>
            </a:r>
            <a:r>
              <a:rPr lang="en-US" sz="2759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 without intervention data.</a:t>
            </a:r>
          </a:p>
        </p:txBody>
      </p:sp>
      <p:sp>
        <p:nvSpPr>
          <p:cNvPr id="11" name="Freeform 11"/>
          <p:cNvSpPr/>
          <p:nvPr/>
        </p:nvSpPr>
        <p:spPr>
          <a:xfrm>
            <a:off x="426574" y="7062064"/>
            <a:ext cx="6978316" cy="448211"/>
          </a:xfrm>
          <a:custGeom>
            <a:avLst/>
            <a:gdLst/>
            <a:ahLst/>
            <a:cxnLst/>
            <a:rect l="l" t="t" r="r" b="b"/>
            <a:pathLst>
              <a:path w="6978316" h="448211">
                <a:moveTo>
                  <a:pt x="0" y="0"/>
                </a:moveTo>
                <a:lnTo>
                  <a:pt x="6978316" y="0"/>
                </a:lnTo>
                <a:lnTo>
                  <a:pt x="6978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48987" y="7663628"/>
            <a:ext cx="6716151" cy="864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601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This simulator </a:t>
            </a:r>
            <a:r>
              <a:rPr lang="en-US" sz="2601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does not</a:t>
            </a:r>
            <a:r>
              <a:rPr lang="en-US" sz="2601">
                <a:solidFill>
                  <a:srgbClr val="F6F6F6"/>
                </a:solidFill>
                <a:latin typeface="Open Sauce"/>
                <a:ea typeface="Open Sauce"/>
                <a:cs typeface="Open Sauce"/>
                <a:sym typeface="Open Sauce"/>
              </a:rPr>
              <a:t> predict treatment effects or validated individual risk.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02093" y="4315669"/>
            <a:ext cx="4654606" cy="188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05"/>
              </a:lnSpc>
            </a:pPr>
            <a:r>
              <a:rPr lang="en-US" sz="4170" b="1" dirty="0">
                <a:solidFill>
                  <a:srgbClr val="3DB6B4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GENUINE WHAT-IF SIMULATOR SCREENSHOT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71ED1D-AC49-ABD3-C957-15C40D77BD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81" t="11007" r="2013" b="2974"/>
          <a:stretch>
            <a:fillRect/>
          </a:stretch>
        </p:blipFill>
        <p:spPr>
          <a:xfrm>
            <a:off x="7971594" y="0"/>
            <a:ext cx="10316406" cy="1047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1583" y="675066"/>
            <a:ext cx="11493245" cy="896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b="1" spc="-338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Exploratory Research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6428" y="1676639"/>
            <a:ext cx="12662047" cy="484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838" b="1" spc="-56" dirty="0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Out-of-fold ROC-AUC performance across model approaches.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79092" y="2745050"/>
            <a:ext cx="1089108" cy="28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7"/>
              </a:lnSpc>
            </a:pPr>
            <a:r>
              <a:rPr lang="en-US" sz="1784" b="1" spc="-3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ROC-AUC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94026" y="3014004"/>
            <a:ext cx="396706" cy="3359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1.0</a:t>
            </a:r>
          </a:p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0.8</a:t>
            </a:r>
          </a:p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0.6</a:t>
            </a:r>
          </a:p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0.4</a:t>
            </a:r>
          </a:p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0.2</a:t>
            </a:r>
          </a:p>
          <a:p>
            <a:pPr algn="ctr">
              <a:lnSpc>
                <a:spcPts val="4568"/>
              </a:lnSpc>
            </a:pPr>
            <a:r>
              <a:rPr lang="en-US" sz="1986" b="1" spc="-39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0.0</a:t>
            </a:r>
          </a:p>
        </p:txBody>
      </p:sp>
      <p:sp>
        <p:nvSpPr>
          <p:cNvPr id="7" name="Freeform 7"/>
          <p:cNvSpPr/>
          <p:nvPr/>
        </p:nvSpPr>
        <p:spPr>
          <a:xfrm>
            <a:off x="2176622" y="3214004"/>
            <a:ext cx="218756" cy="3224936"/>
          </a:xfrm>
          <a:custGeom>
            <a:avLst/>
            <a:gdLst/>
            <a:ahLst/>
            <a:cxnLst/>
            <a:rect l="l" t="t" r="r" b="b"/>
            <a:pathLst>
              <a:path w="218756" h="3224936">
                <a:moveTo>
                  <a:pt x="0" y="0"/>
                </a:moveTo>
                <a:lnTo>
                  <a:pt x="218756" y="0"/>
                </a:lnTo>
                <a:lnTo>
                  <a:pt x="21875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176622" y="6209369"/>
            <a:ext cx="14591024" cy="229572"/>
          </a:xfrm>
          <a:custGeom>
            <a:avLst/>
            <a:gdLst/>
            <a:ahLst/>
            <a:cxnLst/>
            <a:rect l="l" t="t" r="r" b="b"/>
            <a:pathLst>
              <a:path w="14591024" h="229572">
                <a:moveTo>
                  <a:pt x="0" y="0"/>
                </a:moveTo>
                <a:lnTo>
                  <a:pt x="14591024" y="0"/>
                </a:lnTo>
                <a:lnTo>
                  <a:pt x="1459102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696976" y="3848060"/>
            <a:ext cx="2406316" cy="2590881"/>
          </a:xfrm>
          <a:custGeom>
            <a:avLst/>
            <a:gdLst/>
            <a:ahLst/>
            <a:cxnLst/>
            <a:rect l="l" t="t" r="r" b="b"/>
            <a:pathLst>
              <a:path w="2406316" h="2590881">
                <a:moveTo>
                  <a:pt x="0" y="0"/>
                </a:moveTo>
                <a:lnTo>
                  <a:pt x="2406316" y="0"/>
                </a:lnTo>
                <a:lnTo>
                  <a:pt x="240631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051570" y="3263643"/>
            <a:ext cx="1653436" cy="647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3849" b="1" spc="-77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0.6572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96891" y="6438180"/>
            <a:ext cx="2411016" cy="76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Dynamic-only model</a:t>
            </a:r>
          </a:p>
        </p:txBody>
      </p:sp>
      <p:sp>
        <p:nvSpPr>
          <p:cNvPr id="12" name="Freeform 12"/>
          <p:cNvSpPr/>
          <p:nvPr/>
        </p:nvSpPr>
        <p:spPr>
          <a:xfrm>
            <a:off x="8268976" y="4493047"/>
            <a:ext cx="2406316" cy="1945894"/>
          </a:xfrm>
          <a:custGeom>
            <a:avLst/>
            <a:gdLst/>
            <a:ahLst/>
            <a:cxnLst/>
            <a:rect l="l" t="t" r="r" b="b"/>
            <a:pathLst>
              <a:path w="2406316" h="1945894">
                <a:moveTo>
                  <a:pt x="0" y="0"/>
                </a:moveTo>
                <a:lnTo>
                  <a:pt x="2406316" y="0"/>
                </a:lnTo>
                <a:lnTo>
                  <a:pt x="2406316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812513" y="3781805"/>
            <a:ext cx="1375385" cy="6556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3893" b="1" spc="-77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0.526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8188" y="6438180"/>
            <a:ext cx="2330648" cy="76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Static-only</a:t>
            </a:r>
          </a:p>
          <a:p>
            <a:pPr algn="ctr">
              <a:lnSpc>
                <a:spcPts val="3156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model</a:t>
            </a:r>
          </a:p>
        </p:txBody>
      </p:sp>
      <p:sp>
        <p:nvSpPr>
          <p:cNvPr id="15" name="Freeform 15"/>
          <p:cNvSpPr/>
          <p:nvPr/>
        </p:nvSpPr>
        <p:spPr>
          <a:xfrm>
            <a:off x="13059732" y="3848060"/>
            <a:ext cx="2187560" cy="2590881"/>
          </a:xfrm>
          <a:custGeom>
            <a:avLst/>
            <a:gdLst/>
            <a:ahLst/>
            <a:cxnLst/>
            <a:rect l="l" t="t" r="r" b="b"/>
            <a:pathLst>
              <a:path w="2187560" h="2590881">
                <a:moveTo>
                  <a:pt x="0" y="0"/>
                </a:moveTo>
                <a:lnTo>
                  <a:pt x="2187560" y="0"/>
                </a:lnTo>
                <a:lnTo>
                  <a:pt x="2187560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278476" y="3308826"/>
            <a:ext cx="1681935" cy="647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89"/>
              </a:lnSpc>
            </a:pPr>
            <a:r>
              <a:rPr lang="en-US" sz="3849" b="1" spc="-77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0.6553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85539" y="6438180"/>
            <a:ext cx="2518172" cy="76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Dual-stream</a:t>
            </a:r>
          </a:p>
          <a:p>
            <a:pPr algn="ctr">
              <a:lnSpc>
                <a:spcPts val="3156"/>
              </a:lnSpc>
            </a:pPr>
            <a:r>
              <a:rPr lang="en-US" sz="2254" b="1" spc="-45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late fusion</a:t>
            </a:r>
          </a:p>
        </p:txBody>
      </p:sp>
      <p:sp>
        <p:nvSpPr>
          <p:cNvPr id="18" name="Freeform 18"/>
          <p:cNvSpPr/>
          <p:nvPr/>
        </p:nvSpPr>
        <p:spPr>
          <a:xfrm>
            <a:off x="2251364" y="7471059"/>
            <a:ext cx="7404890" cy="1273810"/>
          </a:xfrm>
          <a:custGeom>
            <a:avLst/>
            <a:gdLst/>
            <a:ahLst/>
            <a:cxnLst/>
            <a:rect l="l" t="t" r="r" b="b"/>
            <a:pathLst>
              <a:path w="8061158" h="1289974">
                <a:moveTo>
                  <a:pt x="0" y="0"/>
                </a:moveTo>
                <a:lnTo>
                  <a:pt x="8061158" y="0"/>
                </a:lnTo>
                <a:lnTo>
                  <a:pt x="8061158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705026" y="7725492"/>
            <a:ext cx="2104974" cy="715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12"/>
              </a:lnSpc>
            </a:pPr>
            <a:r>
              <a:rPr lang="en-US" sz="4365" b="1" spc="-87" dirty="0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139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606826" y="7714844"/>
            <a:ext cx="1574773" cy="786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6"/>
              </a:lnSpc>
            </a:pPr>
            <a:r>
              <a:rPr lang="en-US" sz="2311" b="1" spc="-46" dirty="0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patients total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72891" y="7743245"/>
            <a:ext cx="551393" cy="7164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35"/>
              </a:lnSpc>
            </a:pPr>
            <a:r>
              <a:rPr lang="en-US" sz="4311" b="1" spc="-86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17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31228" y="8051622"/>
            <a:ext cx="3025662" cy="389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6"/>
              </a:lnSpc>
            </a:pPr>
            <a:r>
              <a:rPr lang="en-US" sz="2311" b="1" spc="-46">
                <a:solidFill>
                  <a:srgbClr val="F6F6F6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vascular-event cases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23697" y="7515507"/>
            <a:ext cx="5798239" cy="1218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spc="-48">
                <a:solidFill>
                  <a:srgbClr val="E88370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These findings are exploratory research.</a:t>
            </a:r>
            <a:r>
              <a:rPr lang="en-US" sz="2399" b="1" spc="-48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 They do not represent clinical validation or live predictions.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200400" y="9006047"/>
            <a:ext cx="10210800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1740" b="1" spc="-34" dirty="0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Data source: Windowed ECG-derived HRV features from SHARE Digital Twin exploratory dataset.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0421" y="9582114"/>
            <a:ext cx="9728954" cy="28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1740" b="1" spc="-34" dirty="0">
                <a:solidFill>
                  <a:srgbClr val="F6F6F6"/>
                </a:solidFill>
                <a:latin typeface="Open Sauce Medium"/>
                <a:ea typeface="Open Sauce Medium"/>
                <a:cs typeface="Open Sauce Medium"/>
                <a:sym typeface="Open Sauce Medium"/>
              </a:rPr>
              <a:t>Caveats: Small cohort with class imbalance. Results may not generalize beyond this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19137" y="607953"/>
            <a:ext cx="15058997" cy="999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95"/>
              </a:lnSpc>
            </a:pPr>
            <a:r>
              <a:rPr lang="en-US" sz="6662" b="1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Testing, Limitations, and Next Steps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93031" y="2523548"/>
            <a:ext cx="4169569" cy="3377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 dirty="0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TESTING SCOPE</a:t>
            </a:r>
          </a:p>
        </p:txBody>
      </p:sp>
      <p:sp>
        <p:nvSpPr>
          <p:cNvPr id="6" name="Freeform 6"/>
          <p:cNvSpPr/>
          <p:nvPr/>
        </p:nvSpPr>
        <p:spPr>
          <a:xfrm>
            <a:off x="645330" y="2776725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331316" y="2837024"/>
            <a:ext cx="6171477" cy="1341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15"/>
              </a:lnSpc>
            </a:pPr>
            <a:r>
              <a:rPr lang="en-US" sz="2781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40 tests </a:t>
            </a:r>
            <a:r>
              <a:rPr lang="en-US" sz="2781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conducted</a:t>
            </a:r>
          </a:p>
          <a:p>
            <a:pPr algn="l">
              <a:lnSpc>
                <a:spcPts val="3615"/>
              </a:lnSpc>
            </a:pPr>
            <a:r>
              <a:rPr lang="en-US" sz="2781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 skipped </a:t>
            </a:r>
            <a:r>
              <a:rPr lang="en-US" sz="2781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due to requirement for</a:t>
            </a:r>
          </a:p>
          <a:p>
            <a:pPr algn="l">
              <a:lnSpc>
                <a:spcPts val="3615"/>
              </a:lnSpc>
            </a:pPr>
            <a:r>
              <a:rPr lang="en-US" sz="2781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SHARE data</a:t>
            </a:r>
            <a:r>
              <a:rPr lang="en-US" sz="2781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or </a:t>
            </a:r>
            <a:r>
              <a:rPr lang="en-US" sz="2781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real-data mode</a:t>
            </a:r>
          </a:p>
        </p:txBody>
      </p:sp>
      <p:sp>
        <p:nvSpPr>
          <p:cNvPr id="8" name="Freeform 8"/>
          <p:cNvSpPr/>
          <p:nvPr/>
        </p:nvSpPr>
        <p:spPr>
          <a:xfrm>
            <a:off x="645330" y="4493047"/>
            <a:ext cx="3281340" cy="655919"/>
          </a:xfrm>
          <a:custGeom>
            <a:avLst/>
            <a:gdLst/>
            <a:ahLst/>
            <a:cxnLst/>
            <a:rect l="l" t="t" r="r" b="b"/>
            <a:pathLst>
              <a:path w="3281340" h="655919">
                <a:moveTo>
                  <a:pt x="0" y="0"/>
                </a:moveTo>
                <a:lnTo>
                  <a:pt x="3281340" y="0"/>
                </a:lnTo>
                <a:lnTo>
                  <a:pt x="328134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178719" y="4729956"/>
            <a:ext cx="2705695" cy="32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KEY LIMITATIONS</a:t>
            </a:r>
          </a:p>
        </p:txBody>
      </p:sp>
      <p:sp>
        <p:nvSpPr>
          <p:cNvPr id="10" name="Freeform 10"/>
          <p:cNvSpPr/>
          <p:nvPr/>
        </p:nvSpPr>
        <p:spPr>
          <a:xfrm>
            <a:off x="645330" y="5138034"/>
            <a:ext cx="229694" cy="1934962"/>
          </a:xfrm>
          <a:custGeom>
            <a:avLst/>
            <a:gdLst/>
            <a:ahLst/>
            <a:cxnLst/>
            <a:rect l="l" t="t" r="r" b="b"/>
            <a:pathLst>
              <a:path w="229694" h="1934962">
                <a:moveTo>
                  <a:pt x="0" y="0"/>
                </a:moveTo>
                <a:lnTo>
                  <a:pt x="229694" y="0"/>
                </a:lnTo>
                <a:lnTo>
                  <a:pt x="229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93031" y="5264829"/>
            <a:ext cx="9188648" cy="17455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sz="2122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Small number of positive vas</a:t>
            </a:r>
            <a:r>
              <a:rPr lang="en-US" sz="2122">
                <a:solidFill>
                  <a:srgbClr val="D87F6C"/>
                </a:solidFill>
                <a:latin typeface="Open Sauce"/>
                <a:ea typeface="Open Sauce"/>
                <a:cs typeface="Open Sauce"/>
                <a:sym typeface="Open Sauce"/>
              </a:rPr>
              <a:t>car</a:t>
            </a:r>
            <a:r>
              <a:rPr lang="en-US" sz="2122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-event cases limits statistical power</a:t>
            </a:r>
          </a:p>
          <a:p>
            <a:pPr algn="l">
              <a:lnSpc>
                <a:spcPts val="3607"/>
              </a:lnSpc>
            </a:pPr>
            <a:r>
              <a:rPr lang="en-US" sz="2122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Synthetic demo </a:t>
            </a:r>
            <a:r>
              <a:rPr lang="en-US" sz="2122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does not reflect</a:t>
            </a:r>
            <a:r>
              <a:rPr lang="en-US" sz="2122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real patient data dynamics</a:t>
            </a:r>
          </a:p>
          <a:p>
            <a:pPr algn="l">
              <a:lnSpc>
                <a:spcPts val="3607"/>
              </a:lnSpc>
            </a:pPr>
            <a:r>
              <a:rPr lang="en-US" sz="2122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Missing intervention response data</a:t>
            </a:r>
            <a:r>
              <a:rPr lang="en-US" sz="2122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restricts prediction validity</a:t>
            </a:r>
          </a:p>
          <a:p>
            <a:pPr algn="l">
              <a:lnSpc>
                <a:spcPts val="3607"/>
              </a:lnSpc>
            </a:pPr>
            <a:r>
              <a:rPr lang="en-US" sz="2122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External validation</a:t>
            </a:r>
            <a:r>
              <a:rPr lang="en-US" sz="2122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required for clinical use</a:t>
            </a:r>
          </a:p>
        </p:txBody>
      </p:sp>
      <p:sp>
        <p:nvSpPr>
          <p:cNvPr id="12" name="Freeform 12"/>
          <p:cNvSpPr/>
          <p:nvPr/>
        </p:nvSpPr>
        <p:spPr>
          <a:xfrm>
            <a:off x="645330" y="7499343"/>
            <a:ext cx="2625072" cy="644987"/>
          </a:xfrm>
          <a:custGeom>
            <a:avLst/>
            <a:gdLst/>
            <a:ahLst/>
            <a:cxnLst/>
            <a:rect l="l" t="t" r="r" b="b"/>
            <a:pathLst>
              <a:path w="2625072" h="644987">
                <a:moveTo>
                  <a:pt x="0" y="0"/>
                </a:moveTo>
                <a:lnTo>
                  <a:pt x="2625072" y="0"/>
                </a:lnTo>
                <a:lnTo>
                  <a:pt x="262507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5330" y="8133399"/>
            <a:ext cx="229694" cy="1519546"/>
          </a:xfrm>
          <a:custGeom>
            <a:avLst/>
            <a:gdLst/>
            <a:ahLst/>
            <a:cxnLst/>
            <a:rect l="l" t="t" r="r" b="b"/>
            <a:pathLst>
              <a:path w="229694" h="1519546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393031" y="8140049"/>
            <a:ext cx="6590109" cy="1407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2254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Incorporate </a:t>
            </a:r>
            <a:r>
              <a:rPr lang="en-US" sz="2254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real SHARE data</a:t>
            </a:r>
            <a:r>
              <a:rPr lang="en-US" sz="2254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when available</a:t>
            </a:r>
          </a:p>
          <a:p>
            <a:pPr algn="l">
              <a:lnSpc>
                <a:spcPts val="3833"/>
              </a:lnSpc>
            </a:pPr>
            <a:r>
              <a:rPr lang="en-US" sz="2254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Enhance </a:t>
            </a:r>
            <a:r>
              <a:rPr lang="en-US" sz="2254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model robustness</a:t>
            </a:r>
            <a:r>
              <a:rPr lang="en-US" sz="2254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with larger cohorts</a:t>
            </a:r>
          </a:p>
          <a:p>
            <a:pPr algn="l">
              <a:lnSpc>
                <a:spcPts val="3833"/>
              </a:lnSpc>
            </a:pPr>
            <a:r>
              <a:rPr lang="en-US" sz="2254" b="1">
                <a:solidFill>
                  <a:srgbClr val="D87F6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Validate thresholds</a:t>
            </a:r>
            <a:r>
              <a:rPr lang="en-US" sz="2254">
                <a:solidFill>
                  <a:srgbClr val="F2F1EC"/>
                </a:solidFill>
                <a:latin typeface="Open Sauce"/>
                <a:ea typeface="Open Sauce"/>
                <a:cs typeface="Open Sauce"/>
                <a:sym typeface="Open Sauce"/>
              </a:rPr>
              <a:t> clinically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101866" y="1924030"/>
            <a:ext cx="7186134" cy="7083928"/>
          </a:xfrm>
          <a:custGeom>
            <a:avLst/>
            <a:gdLst/>
            <a:ahLst/>
            <a:cxnLst/>
            <a:rect l="l" t="t" r="r" b="b"/>
            <a:pathLst>
              <a:path w="7186134" h="7083928">
                <a:moveTo>
                  <a:pt x="0" y="0"/>
                </a:moveTo>
                <a:lnTo>
                  <a:pt x="7186134" y="0"/>
                </a:lnTo>
                <a:lnTo>
                  <a:pt x="7186134" y="7083927"/>
                </a:lnTo>
                <a:lnTo>
                  <a:pt x="0" y="70839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178719" y="7636699"/>
            <a:ext cx="2705695" cy="32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1">
                <a:solidFill>
                  <a:srgbClr val="F2F1E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NEXT STEPS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51704" y="776959"/>
            <a:ext cx="5912433" cy="109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01"/>
              </a:lnSpc>
            </a:pPr>
            <a:r>
              <a:rPr lang="en-US" sz="820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81604" y="2424968"/>
            <a:ext cx="8280209" cy="7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Baseline relative </a:t>
            </a:r>
            <a:r>
              <a:rPr lang="en-US" sz="2381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Twin State</a:t>
            </a: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representation</a:t>
            </a:r>
          </a:p>
          <a:p>
            <a:pPr algn="l">
              <a:lnSpc>
                <a:spcPts val="3095"/>
              </a:lnSpc>
            </a:pP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enables personalized dynamic cardiovascular insights.</a:t>
            </a:r>
          </a:p>
        </p:txBody>
      </p:sp>
      <p:sp>
        <p:nvSpPr>
          <p:cNvPr id="5" name="Freeform 5"/>
          <p:cNvSpPr/>
          <p:nvPr/>
        </p:nvSpPr>
        <p:spPr>
          <a:xfrm>
            <a:off x="864086" y="3421712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00276" y="3825626"/>
            <a:ext cx="6413022" cy="774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95"/>
              </a:lnSpc>
            </a:pPr>
            <a:r>
              <a:rPr lang="en-US" sz="2381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Trajectory visualization</a:t>
            </a: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supports temporal</a:t>
            </a:r>
          </a:p>
          <a:p>
            <a:pPr algn="l">
              <a:lnSpc>
                <a:spcPts val="3095"/>
              </a:lnSpc>
            </a:pP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interpretation of physiological changes.</a:t>
            </a:r>
          </a:p>
        </p:txBody>
      </p:sp>
      <p:sp>
        <p:nvSpPr>
          <p:cNvPr id="7" name="Freeform 7"/>
          <p:cNvSpPr/>
          <p:nvPr/>
        </p:nvSpPr>
        <p:spPr>
          <a:xfrm>
            <a:off x="864086" y="4919394"/>
            <a:ext cx="8717426" cy="229572"/>
          </a:xfrm>
          <a:custGeom>
            <a:avLst/>
            <a:gdLst/>
            <a:ahLst/>
            <a:cxnLst/>
            <a:rect l="l" t="t" r="r" b="b"/>
            <a:pathLst>
              <a:path w="8717426" h="229572">
                <a:moveTo>
                  <a:pt x="0" y="0"/>
                </a:moveTo>
                <a:lnTo>
                  <a:pt x="8717426" y="0"/>
                </a:lnTo>
                <a:lnTo>
                  <a:pt x="8717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902393" y="5229067"/>
            <a:ext cx="6201354" cy="80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5"/>
              </a:lnSpc>
            </a:pPr>
            <a:r>
              <a:rPr lang="en-US" sz="2381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What-If simulation</a:t>
            </a: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of hypothetical states</a:t>
            </a:r>
          </a:p>
          <a:p>
            <a:pPr algn="l">
              <a:lnSpc>
                <a:spcPts val="3335"/>
              </a:lnSpc>
            </a:pPr>
            <a:r>
              <a:rPr lang="en-US" sz="2381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advances research understanding.</a:t>
            </a:r>
          </a:p>
        </p:txBody>
      </p:sp>
      <p:sp>
        <p:nvSpPr>
          <p:cNvPr id="9" name="Freeform 9"/>
          <p:cNvSpPr/>
          <p:nvPr/>
        </p:nvSpPr>
        <p:spPr>
          <a:xfrm>
            <a:off x="864086" y="6428009"/>
            <a:ext cx="10248718" cy="1934962"/>
          </a:xfrm>
          <a:custGeom>
            <a:avLst/>
            <a:gdLst/>
            <a:ahLst/>
            <a:cxnLst/>
            <a:rect l="l" t="t" r="r" b="b"/>
            <a:pathLst>
              <a:path w="10248718" h="1934962">
                <a:moveTo>
                  <a:pt x="0" y="0"/>
                </a:moveTo>
                <a:lnTo>
                  <a:pt x="10248718" y="0"/>
                </a:lnTo>
                <a:lnTo>
                  <a:pt x="1024871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82842" y="6635716"/>
            <a:ext cx="667206" cy="1508614"/>
          </a:xfrm>
          <a:custGeom>
            <a:avLst/>
            <a:gdLst/>
            <a:ahLst/>
            <a:cxnLst/>
            <a:rect l="l" t="t" r="r" b="b"/>
            <a:pathLst>
              <a:path w="667206" h="1508614">
                <a:moveTo>
                  <a:pt x="0" y="0"/>
                </a:moveTo>
                <a:lnTo>
                  <a:pt x="667206" y="0"/>
                </a:lnTo>
                <a:lnTo>
                  <a:pt x="66720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48251" y="6743442"/>
            <a:ext cx="8771777" cy="1125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7"/>
              </a:lnSpc>
            </a:pPr>
            <a:r>
              <a:rPr lang="en-US" sz="3304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is an exploratory research prototype, not a clinical decision tool.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84999" y="8615582"/>
            <a:ext cx="7940752" cy="84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3"/>
              </a:lnSpc>
            </a:pPr>
            <a:r>
              <a:rPr lang="en-US" sz="2430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We invite continued research and external</a:t>
            </a:r>
          </a:p>
          <a:p>
            <a:pPr algn="l">
              <a:lnSpc>
                <a:spcPts val="3403"/>
              </a:lnSpc>
            </a:pPr>
            <a:r>
              <a:rPr lang="en-US" sz="2430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validation to advance the </a:t>
            </a:r>
            <a:r>
              <a:rPr lang="en-US" sz="2430" b="1">
                <a:solidFill>
                  <a:srgbClr val="E876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SHARE Digital Twin</a:t>
            </a:r>
            <a:r>
              <a:rPr lang="en-US" sz="2430" b="1">
                <a:solidFill>
                  <a:srgbClr val="F1F1F1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vision.</a:t>
            </a:r>
          </a:p>
        </p:txBody>
      </p:sp>
      <p:sp>
        <p:nvSpPr>
          <p:cNvPr id="13" name="Freeform 13"/>
          <p:cNvSpPr/>
          <p:nvPr/>
        </p:nvSpPr>
        <p:spPr>
          <a:xfrm>
            <a:off x="9351818" y="634055"/>
            <a:ext cx="8936182" cy="9652945"/>
          </a:xfrm>
          <a:custGeom>
            <a:avLst/>
            <a:gdLst/>
            <a:ahLst/>
            <a:cxnLst/>
            <a:rect l="l" t="t" r="r" b="b"/>
            <a:pathLst>
              <a:path w="8936182" h="9652945">
                <a:moveTo>
                  <a:pt x="0" y="0"/>
                </a:moveTo>
                <a:lnTo>
                  <a:pt x="8936182" y="0"/>
                </a:lnTo>
                <a:lnTo>
                  <a:pt x="893618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726</Words>
  <Application>Microsoft Office PowerPoint</Application>
  <PresentationFormat>Custom</PresentationFormat>
  <Paragraphs>197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Open Sauce Semi-Bold</vt:lpstr>
      <vt:lpstr>Open Sauce Medium</vt:lpstr>
      <vt:lpstr>Open Sauce</vt:lpstr>
      <vt:lpstr>Calibri</vt:lpstr>
      <vt:lpstr>Open Sauce Bold</vt:lpstr>
      <vt:lpstr>Arial</vt:lpstr>
      <vt:lpstr>Open Sauce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SHARE Digital Twin</dc:title>
  <cp:lastModifiedBy>Vijaya Durga lavanya</cp:lastModifiedBy>
  <cp:revision>4</cp:revision>
  <dcterms:created xsi:type="dcterms:W3CDTF">2006-08-16T00:00:00Z</dcterms:created>
  <dcterms:modified xsi:type="dcterms:W3CDTF">2026-10-19T15:00:14Z</dcterms:modified>
  <dc:identifier>DAHYdRioWek</dc:identifier>
</cp:coreProperties>
</file>